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en, Quoc Anh" userId="S::quocanh.nguyen@mavs.uta.edu::0cc01156-6f39-4bbc-a772-5c32af41f06a" providerId="AD" clId="Web-{121C00DD-123D-1CE4-E2C6-7664C085B25A}"/>
    <pc:docChg chg="modSld">
      <pc:chgData name="Nguen, Quoc Anh" userId="S::quocanh.nguyen@mavs.uta.edu::0cc01156-6f39-4bbc-a772-5c32af41f06a" providerId="AD" clId="Web-{121C00DD-123D-1CE4-E2C6-7664C085B25A}" dt="2026-04-29T07:25:08.392" v="31"/>
      <pc:docMkLst>
        <pc:docMk/>
      </pc:docMkLst>
      <pc:sldChg chg="modNotes">
        <pc:chgData name="Nguen, Quoc Anh" userId="S::quocanh.nguyen@mavs.uta.edu::0cc01156-6f39-4bbc-a772-5c32af41f06a" providerId="AD" clId="Web-{121C00DD-123D-1CE4-E2C6-7664C085B25A}" dt="2026-04-29T07:05:52.381" v="3"/>
        <pc:sldMkLst>
          <pc:docMk/>
          <pc:sldMk cId="0" sldId="256"/>
        </pc:sldMkLst>
      </pc:sldChg>
      <pc:sldChg chg="modNotes">
        <pc:chgData name="Nguen, Quoc Anh" userId="S::quocanh.nguyen@mavs.uta.edu::0cc01156-6f39-4bbc-a772-5c32af41f06a" providerId="AD" clId="Web-{121C00DD-123D-1CE4-E2C6-7664C085B25A}" dt="2026-04-29T07:07:22.975" v="5"/>
        <pc:sldMkLst>
          <pc:docMk/>
          <pc:sldMk cId="0" sldId="257"/>
        </pc:sldMkLst>
      </pc:sldChg>
      <pc:sldChg chg="modNotes">
        <pc:chgData name="Nguen, Quoc Anh" userId="S::quocanh.nguyen@mavs.uta.edu::0cc01156-6f39-4bbc-a772-5c32af41f06a" providerId="AD" clId="Web-{121C00DD-123D-1CE4-E2C6-7664C085B25A}" dt="2026-04-29T07:08:17.475" v="7"/>
        <pc:sldMkLst>
          <pc:docMk/>
          <pc:sldMk cId="0" sldId="258"/>
        </pc:sldMkLst>
      </pc:sldChg>
      <pc:sldChg chg="modNotes">
        <pc:chgData name="Nguen, Quoc Anh" userId="S::quocanh.nguyen@mavs.uta.edu::0cc01156-6f39-4bbc-a772-5c32af41f06a" providerId="AD" clId="Web-{121C00DD-123D-1CE4-E2C6-7664C085B25A}" dt="2026-04-29T07:08:19.413" v="8"/>
        <pc:sldMkLst>
          <pc:docMk/>
          <pc:sldMk cId="0" sldId="259"/>
        </pc:sldMkLst>
      </pc:sldChg>
      <pc:sldChg chg="modNotes">
        <pc:chgData name="Nguen, Quoc Anh" userId="S::quocanh.nguyen@mavs.uta.edu::0cc01156-6f39-4bbc-a772-5c32af41f06a" providerId="AD" clId="Web-{121C00DD-123D-1CE4-E2C6-7664C085B25A}" dt="2026-04-29T07:09:50.069" v="10"/>
        <pc:sldMkLst>
          <pc:docMk/>
          <pc:sldMk cId="0" sldId="260"/>
        </pc:sldMkLst>
      </pc:sldChg>
      <pc:sldChg chg="modNotes">
        <pc:chgData name="Nguen, Quoc Anh" userId="S::quocanh.nguyen@mavs.uta.edu::0cc01156-6f39-4bbc-a772-5c32af41f06a" providerId="AD" clId="Web-{121C00DD-123D-1CE4-E2C6-7664C085B25A}" dt="2026-04-29T07:18:27.476" v="30"/>
        <pc:sldMkLst>
          <pc:docMk/>
          <pc:sldMk cId="0" sldId="261"/>
        </pc:sldMkLst>
      </pc:sldChg>
      <pc:sldChg chg="modNotes">
        <pc:chgData name="Nguen, Quoc Anh" userId="S::quocanh.nguyen@mavs.uta.edu::0cc01156-6f39-4bbc-a772-5c32af41f06a" providerId="AD" clId="Web-{121C00DD-123D-1CE4-E2C6-7664C085B25A}" dt="2026-04-29T07:25:08.392" v="31"/>
        <pc:sldMkLst>
          <pc:docMk/>
          <pc:sldMk cId="0" sldId="263"/>
        </pc:sldMkLst>
      </pc:sldChg>
    </pc:docChg>
  </pc:docChgLst>
  <pc:docChgLst>
    <pc:chgData name="Nguen, Quoc Anh" userId="S::quocanh.nguyen@mavs.uta.edu::0cc01156-6f39-4bbc-a772-5c32af41f06a" providerId="AD" clId="Web-{9F8FBE69-5994-0C79-D718-74A92B1258B0}"/>
    <pc:docChg chg="modSld">
      <pc:chgData name="Nguen, Quoc Anh" userId="S::quocanh.nguyen@mavs.uta.edu::0cc01156-6f39-4bbc-a772-5c32af41f06a" providerId="AD" clId="Web-{9F8FBE69-5994-0C79-D718-74A92B1258B0}" dt="2026-04-29T07:47:39.497" v="1"/>
      <pc:docMkLst>
        <pc:docMk/>
      </pc:docMkLst>
      <pc:sldChg chg="modNotes">
        <pc:chgData name="Nguen, Quoc Anh" userId="S::quocanh.nguyen@mavs.uta.edu::0cc01156-6f39-4bbc-a772-5c32af41f06a" providerId="AD" clId="Web-{9F8FBE69-5994-0C79-D718-74A92B1258B0}" dt="2026-04-29T07:47:39.497" v="1"/>
        <pc:sldMkLst>
          <pc:docMk/>
          <pc:sldMk cId="0" sldId="263"/>
        </pc:sldMkLst>
      </pc:sldChg>
    </pc:docChg>
  </pc:docChgLst>
  <pc:docChgLst>
    <pc:chgData name="Nguen, Quoc Anh" userId="S::quocanh.nguyen@mavs.uta.edu::0cc01156-6f39-4bbc-a772-5c32af41f06a" providerId="AD" clId="Web-{150288A6-D7F8-02B9-2373-BEF1FADC3758}"/>
    <pc:docChg chg="modSld">
      <pc:chgData name="Nguen, Quoc Anh" userId="S::quocanh.nguyen@mavs.uta.edu::0cc01156-6f39-4bbc-a772-5c32af41f06a" providerId="AD" clId="Web-{150288A6-D7F8-02B9-2373-BEF1FADC3758}" dt="2026-04-29T07:42:13.247" v="29"/>
      <pc:docMkLst>
        <pc:docMk/>
      </pc:docMkLst>
      <pc:sldChg chg="modNotes">
        <pc:chgData name="Nguen, Quoc Anh" userId="S::quocanh.nguyen@mavs.uta.edu::0cc01156-6f39-4bbc-a772-5c32af41f06a" providerId="AD" clId="Web-{150288A6-D7F8-02B9-2373-BEF1FADC3758}" dt="2026-04-29T07:42:13.247" v="29"/>
        <pc:sldMkLst>
          <pc:docMk/>
          <pc:sldMk cId="0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Hours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Dispatch</c:v>
                </c:pt>
                <c:pt idx="1">
                  <c:v>CMO</c:v>
                </c:pt>
                <c:pt idx="2">
                  <c:v>High</c:v>
                </c:pt>
                <c:pt idx="3">
                  <c:v>Priority</c:v>
                </c:pt>
                <c:pt idx="4">
                  <c:v>Standard</c:v>
                </c:pt>
                <c:pt idx="5">
                  <c:v>Emergency</c:v>
                </c:pt>
                <c:pt idx="6">
                  <c:v>MCC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4.5</c:v>
                </c:pt>
                <c:pt idx="1">
                  <c:v>12.6</c:v>
                </c:pt>
                <c:pt idx="2">
                  <c:v>23.9</c:v>
                </c:pt>
                <c:pt idx="3">
                  <c:v>68.099999999999994</c:v>
                </c:pt>
                <c:pt idx="4">
                  <c:v>70.900000000000006</c:v>
                </c:pt>
                <c:pt idx="5">
                  <c:v>73.3</c:v>
                </c:pt>
                <c:pt idx="6">
                  <c:v>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D9-4B96-8858-2B85F473C1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Hours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Phone</c:v>
                </c:pt>
                <c:pt idx="1">
                  <c:v>API</c:v>
                </c:pt>
                <c:pt idx="2">
                  <c:v>Web</c:v>
                </c:pt>
                <c:pt idx="3">
                  <c:v>Internal</c:v>
                </c:pt>
                <c:pt idx="4">
                  <c:v>311-App</c:v>
                </c:pt>
                <c:pt idx="5">
                  <c:v>Email</c:v>
                </c:pt>
                <c:pt idx="6">
                  <c:v>Proactive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34.4</c:v>
                </c:pt>
                <c:pt idx="1">
                  <c:v>44</c:v>
                </c:pt>
                <c:pt idx="2">
                  <c:v>47</c:v>
                </c:pt>
                <c:pt idx="3">
                  <c:v>75.7</c:v>
                </c:pt>
                <c:pt idx="4">
                  <c:v>87.3</c:v>
                </c:pt>
                <c:pt idx="5">
                  <c:v>122.9</c:v>
                </c:pt>
                <c:pt idx="6">
                  <c:v>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4E-444B-9C51-5774AB7BEA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2137"/>
                </a:solidFill>
                <a:latin typeface="Arial"/>
              </a:rPr>
              <a:t>Fast vs Slow Requests per Threshold (Model Sample)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Slow (Class 0)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24 hrs</c:v>
                </c:pt>
                <c:pt idx="1">
                  <c:v>48 hrs</c:v>
                </c:pt>
                <c:pt idx="2">
                  <c:v>72 hrs</c:v>
                </c:pt>
                <c:pt idx="3">
                  <c:v>96 hrs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2628</c:v>
                </c:pt>
                <c:pt idx="1">
                  <c:v>2392</c:v>
                </c:pt>
                <c:pt idx="2">
                  <c:v>2192</c:v>
                </c:pt>
                <c:pt idx="3">
                  <c:v>2034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4-41AC-8983-A0F386599F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Fast (Class 1)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24 hrs</c:v>
                </c:pt>
                <c:pt idx="1">
                  <c:v>48 hrs</c:v>
                </c:pt>
                <c:pt idx="2">
                  <c:v>72 hrs</c:v>
                </c:pt>
                <c:pt idx="3">
                  <c:v>96 hrs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502</c:v>
                </c:pt>
                <c:pt idx="1">
                  <c:v>738</c:v>
                </c:pt>
                <c:pt idx="2">
                  <c:v>938</c:v>
                </c:pt>
                <c:pt idx="3">
                  <c:v>1096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A4-41AC-8983-A0F386599F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2137"/>
                </a:solidFill>
                <a:latin typeface="Arial"/>
              </a:rPr>
              <a:t>Top 10 Request Types (real counts from District 10 data)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Requests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Code Concern - CCS</c:v>
                </c:pt>
                <c:pt idx="1">
                  <c:v>Single Family Rental - CCS</c:v>
                </c:pt>
                <c:pt idx="2">
                  <c:v>Consumer Protection - CCS</c:v>
                </c:pt>
                <c:pt idx="3">
                  <c:v>Restaurant/Food Complaint - CCS</c:v>
                </c:pt>
                <c:pt idx="4">
                  <c:v>ICR Consumer Protection - CCS</c:v>
                </c:pt>
                <c:pt idx="5">
                  <c:v>Mosquito - Do Not Spray - CCS</c:v>
                </c:pt>
                <c:pt idx="6">
                  <c:v>Short Term/Vacation Rental - CCS</c:v>
                </c:pt>
                <c:pt idx="7">
                  <c:v>Emergency Regulations - CCS</c:v>
                </c:pt>
                <c:pt idx="8">
                  <c:v>Food Borne Illness - CCS</c:v>
                </c:pt>
                <c:pt idx="9">
                  <c:v>Boarding Home Complaint - CCS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29204</c:v>
                </c:pt>
                <c:pt idx="1">
                  <c:v>1293</c:v>
                </c:pt>
                <c:pt idx="2">
                  <c:v>437</c:v>
                </c:pt>
                <c:pt idx="3">
                  <c:v>165</c:v>
                </c:pt>
                <c:pt idx="4">
                  <c:v>86</c:v>
                </c:pt>
                <c:pt idx="5">
                  <c:v>72</c:v>
                </c:pt>
                <c:pt idx="6">
                  <c:v>56</c:v>
                </c:pt>
                <c:pt idx="7">
                  <c:v>38</c:v>
                </c:pt>
                <c:pt idx="8">
                  <c:v>33</c:v>
                </c:pt>
                <c:pt idx="9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AB-4515-AC47-A72527AF99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2137"/>
                </a:solidFill>
                <a:latin typeface="Arial"/>
              </a:rPr>
              <a:t>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24 hrs</c:v>
                </c:pt>
                <c:pt idx="1">
                  <c:v>48 hrs</c:v>
                </c:pt>
                <c:pt idx="2">
                  <c:v>72 hrs</c:v>
                </c:pt>
                <c:pt idx="3">
                  <c:v>96 hrs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82.4</c:v>
                </c:pt>
                <c:pt idx="1">
                  <c:v>74.3</c:v>
                </c:pt>
                <c:pt idx="2">
                  <c:v>69</c:v>
                </c:pt>
                <c:pt idx="3">
                  <c:v>67.7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71-474B-820C-B997AE12F5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2137"/>
                </a:solidFill>
                <a:latin typeface="Arial"/>
              </a:rPr>
              <a:t>ROC-AUC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24 hrs</c:v>
                </c:pt>
                <c:pt idx="1">
                  <c:v>48 hrs</c:v>
                </c:pt>
                <c:pt idx="2">
                  <c:v>72 hrs</c:v>
                </c:pt>
                <c:pt idx="3">
                  <c:v>96 hrs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</c:v>
                </c:pt>
                <c:pt idx="1">
                  <c:v>0.64</c:v>
                </c:pt>
                <c:pt idx="2">
                  <c:v>0.66</c:v>
                </c:pt>
                <c:pt idx="3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DF-43A8-83C6-0362794D25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2137"/>
                </a:solidFill>
                <a:latin typeface="Arial"/>
              </a:rPr>
              <a:t>Accuracy vs ROC-AUC (scaled ×100)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69.8</c:v>
                </c:pt>
                <c:pt idx="1">
                  <c:v>65.3</c:v>
                </c:pt>
                <c:pt idx="2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20-445B-B8B0-F92C182B2A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 ×100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58.4</c:v>
                </c:pt>
                <c:pt idx="1">
                  <c:v>63.1</c:v>
                </c:pt>
                <c:pt idx="2">
                  <c:v>65.7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20-445B-B8B0-F92C182B2A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R²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8FC-45E1-98B3-2ED30B30CB8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8FC-45E1-98B3-2ED30B30CB8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8FC-45E1-98B3-2ED30B30CB8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8FC-45E1-98B3-2ED30B30CB8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8FC-45E1-98B3-2ED30B30CB8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8FC-45E1-98B3-2ED30B30CB89}"/>
              </c:ext>
            </c:extLst>
          </c:dPt>
          <c:dPt>
            <c:idx val="6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8FC-45E1-98B3-2ED30B30CB89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No removal</c:v>
                </c:pt>
                <c:pt idx="1">
                  <c:v>Remove &gt;99th</c:v>
                </c:pt>
                <c:pt idx="2">
                  <c:v>Remove &gt;95th</c:v>
                </c:pt>
                <c:pt idx="3">
                  <c:v>Remove &gt;90th</c:v>
                </c:pt>
                <c:pt idx="4">
                  <c:v>IQR ×1.5</c:v>
                </c:pt>
                <c:pt idx="5">
                  <c:v>IQR ×3.0</c:v>
                </c:pt>
                <c:pt idx="6">
                  <c:v>Cap 720h ⭐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5.3999999999999999E-2</c:v>
                </c:pt>
                <c:pt idx="1">
                  <c:v>0.08</c:v>
                </c:pt>
                <c:pt idx="2">
                  <c:v>6.4000000000000001E-2</c:v>
                </c:pt>
                <c:pt idx="3">
                  <c:v>7.0000000000000007E-2</c:v>
                </c:pt>
                <c:pt idx="4">
                  <c:v>7.0999999999999994E-2</c:v>
                </c:pt>
                <c:pt idx="5">
                  <c:v>6.6000000000000003E-2</c:v>
                </c:pt>
                <c:pt idx="6">
                  <c:v>9.7000000000000003E-2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8FC-45E1-98B3-2ED30B30CB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29AD0A-0E5A-4629-BD26-9A68A811D075}" type="datetimeFigureOut"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7D4D8-A11E-482C-8E1C-0FBD2F68CAF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66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 everyone, today I will present our project on Dallas 311 service request analysis.</a:t>
            </a:r>
          </a:p>
          <a:p>
            <a:r>
              <a:rPr lang="en-US"/>
              <a:t>311 is a non-emergency city service system where residents can report issues like code violations, illegal dumping, or neighborhood problems.</a:t>
            </a:r>
          </a:p>
          <a:p>
            <a:r>
              <a:rPr lang="en-US" dirty="0"/>
              <a:t>In this project, we analyze how long these requests take to resolve, and build machine learning models to predict whether a request will be completed quickly or slowly.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The goal is not only to make predictions, but also to understand how the system actually works in real life.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goal of our project is to predict whether a 311 Code Compliance request will be fast or slow, using only information available at the time the request is submitted.</a:t>
            </a:r>
          </a:p>
          <a:p>
            <a:r>
              <a:rPr lang="en-US"/>
              <a:t>We use Dallas 311 data with about 2.88 million records, but for modeling we use a smaller cleaned sample of around 3,130 records.</a:t>
            </a:r>
          </a:p>
          <a:p>
            <a:r>
              <a:rPr lang="en-US" dirty="0"/>
              <a:t>We tested three models — Logistic Regression, Random Forest, and </a:t>
            </a:r>
            <a:r>
              <a:rPr lang="en-US" dirty="0" err="1"/>
              <a:t>XGBoost</a:t>
            </a:r>
            <a:r>
              <a:rPr lang="en-US" dirty="0"/>
              <a:t> — across four time thresholds: 24, 48, 72, and 96 hours.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Our main evaluation metric is ROC-AUC, because it shows how well the model can separate fast and slow requests, even when the data is imbalanced.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shows our workflow.</a:t>
            </a:r>
          </a:p>
          <a:p>
            <a:r>
              <a:rPr lang="en-US"/>
              <a:t>First, we load the data and remove columns that could cause data leakage, like closed date.</a:t>
            </a:r>
          </a:p>
          <a:p>
            <a:r>
              <a:rPr lang="en-US"/>
              <a:t>Then we perform EDA and clean the data, including handling missing values.</a:t>
            </a:r>
          </a:p>
          <a:p>
            <a:r>
              <a:rPr lang="en-US" dirty="0"/>
              <a:t>Next, we create features like month and hour from the created date, and encode categorical variables.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After that, we train three machine learning models.</a:t>
            </a:r>
          </a:p>
          <a:p>
            <a:r>
              <a:rPr lang="en-US" dirty="0"/>
              <a:t>Finally, we evaluate the models using accuracy, ROC-AUC, and confusion matrix.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start with the full dataset and then narrow it down to Code Compliance requests.</a:t>
            </a:r>
          </a:p>
          <a:p>
            <a:r>
              <a:rPr lang="en-US"/>
              <a:t>After cleaning and sampling, we use a smaller dataset for modeling.</a:t>
            </a:r>
          </a:p>
          <a:p>
            <a:r>
              <a:rPr lang="en-US"/>
              <a:t>The key point is that the model is trained on a reduced sample, not the full dataset.</a:t>
            </a:r>
          </a:p>
          <a:p>
            <a:r>
              <a:rPr lang="en-US"/>
              <a:t>We also removed columns with many missing values, like “Outcome.”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shows how response time is distributed.</a:t>
            </a:r>
          </a:p>
          <a:p>
            <a:r>
              <a:rPr lang="en-US"/>
              <a:t>The median is about 44 hours, but the data is highly skewed.</a:t>
            </a:r>
          </a:p>
          <a:p>
            <a:r>
              <a:rPr lang="en-US"/>
              <a:t>Some requests take extremely long — up to 177 days — which creates outliers.</a:t>
            </a:r>
          </a:p>
          <a:p>
            <a:r>
              <a:rPr lang="en-US" dirty="0"/>
              <a:t>This makes prediction difficult because most requests are relatively fast, but a few are extremely slow.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look at important predictors and also a key challenge.</a:t>
            </a:r>
          </a:p>
          <a:p>
            <a:r>
              <a:rPr lang="en-US"/>
              <a:t>First, for priority, we found something interesting — “Emergency” requests are not actually faster than “Standard.” Because some emergency cases may require more complex handling, like inspection, coordination, or multiple steps, which can take more time to completed</a:t>
            </a:r>
            <a:br>
              <a:rPr lang="en-US" dirty="0">
                <a:cs typeface="+mn-lt"/>
              </a:rPr>
            </a:br>
            <a:r>
              <a:rPr lang="en-US" dirty="0"/>
              <a:t> This suggests that the priority label may not always reflect real urgency.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For submission method, phone requests are the fastest, while app and web requests are slower.</a:t>
            </a:r>
            <a:br>
              <a:rPr lang="en-US" dirty="0">
                <a:cs typeface="+mn-lt"/>
              </a:rPr>
            </a:br>
            <a:r>
              <a:rPr lang="en-US" dirty="0"/>
              <a:t> This shows that how a request enters the system affects how quickly it is handled.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At the same time, we also see a class imbalance problem.</a:t>
            </a:r>
            <a:br>
              <a:rPr lang="en-US" dirty="0"/>
            </a:br>
            <a:r>
              <a:rPr lang="en-US"/>
              <a:t> For example, at the 24-hour threshold, only about 16% of requests are fast.</a:t>
            </a:r>
          </a:p>
          <a:p>
            <a:r>
              <a:rPr lang="en-US"/>
              <a:t>This means the model can get high accuracy just by predicting “slow,” so accuracy alone is misleading.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shows the distribution of fast and slow requests across different thresholds.</a:t>
            </a:r>
          </a:p>
          <a:p>
            <a:r>
              <a:rPr lang="en-US"/>
              <a:t>As the threshold increases, the number of “fast” cases also increases, which changes how the model behaves.</a:t>
            </a:r>
          </a:p>
          <a:p>
            <a:r>
              <a:rPr lang="en-US"/>
              <a:t>This also highlights the class imbalance problem.</a:t>
            </a:r>
            <a:br>
              <a:rPr lang="en-US" dirty="0"/>
            </a:br>
            <a:r>
              <a:rPr lang="en-US"/>
              <a:t> For example, at the 24-hour threshold, only about 16% of requests are fast, while most are slow.</a:t>
            </a:r>
          </a:p>
          <a:p>
            <a:r>
              <a:rPr lang="en-US"/>
              <a:t>Because of this, the model sees many more slow examples during training, so it tends to predict “slow” more often.</a:t>
            </a:r>
          </a:p>
          <a:p>
            <a:r>
              <a:rPr lang="en-US"/>
              <a:t>This can lead to high accuracy, but it also means the model may miss many fast cases.</a:t>
            </a:r>
          </a:p>
          <a:p>
            <a:r>
              <a:rPr lang="en-US" dirty="0"/>
              <a:t>So we use ROC-AUC instead of accuracy, because it better measures how well the model separates fast and slow requests. And we will discus more detail this in the next part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shows the top request types in our filtered dataset for District 10.</a:t>
            </a:r>
          </a:p>
          <a:p>
            <a:r>
              <a:rPr lang="en-US"/>
              <a:t>Again, we see that “Code Concern” is by far the most common, with over 29,000 requests.</a:t>
            </a:r>
          </a:p>
          <a:p>
            <a:r>
              <a:rPr lang="en-US"/>
              <a:t>Other types like rental registration and consumer protection are much smaller.</a:t>
            </a:r>
          </a:p>
          <a:p>
            <a:r>
              <a:rPr lang="en-US"/>
              <a:t>This imbalance means the model mostly learns patterns from Code Concern requests.</a:t>
            </a:r>
          </a:p>
          <a:p>
            <a:r>
              <a:rPr lang="en-US" dirty="0"/>
              <a:t>So when we interpret results, we need to remember that the dataset is not evenly distributed across service types.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three11chat.onrender.com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Service Request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Multi-Threshold Classification 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41148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ASDS 6302  |  Final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5478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Quoc Anh Nguyen  ·  Ryan Bui  ·  Roshan Adhikari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977640"/>
            <a:ext cx="246888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0050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4389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3977640"/>
            <a:ext cx="246888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40050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29000" y="4389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246888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0050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4389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070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311 Code Compliance service request will be resolved quickly or slowly, using only information available at submission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1480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097280"/>
            <a:ext cx="64008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2070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73752" y="157276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Dallas 311 records: 2.88M rows (Sep 2020 – Mar 2026). Modelling used a 10% stratified sample → 3,130 records after cleaning.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11480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71800"/>
            <a:ext cx="64008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81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Approach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34472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3 ML models (Logistic Regression, Random Forest, XGBoost) across 4 time thresholds: 24, 48, 72, and 96 hours.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11480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971800"/>
            <a:ext cx="64008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3081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Key Metric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73752" y="34472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is the primary metric — it measures true discrimination power regardless of class imbalance, unlike raw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0" y="2633472"/>
            <a:ext cx="31089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88720"/>
            <a:ext cx="146304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9202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359152"/>
            <a:ext cx="13167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2.88M raw rows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leakage cols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(Closed/Update Date)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19856" y="2633472"/>
            <a:ext cx="31089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56816" y="1188720"/>
            <a:ext cx="146304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9736" y="132588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9736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29968" y="19202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Clean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29968" y="2359152"/>
            <a:ext cx="13167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distributions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rare categories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93792" y="2633472"/>
            <a:ext cx="31089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0752" y="1188720"/>
            <a:ext cx="146304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672" y="132588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367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03904" y="19202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03904" y="2359152"/>
            <a:ext cx="13167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month/hour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Created Date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67728" y="2633472"/>
            <a:ext cx="31089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04688" y="1188720"/>
            <a:ext cx="146304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07608" y="132588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7608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19202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2359152"/>
            <a:ext cx="13167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78624" y="1188720"/>
            <a:ext cx="146304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1544" y="132588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81544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51776" y="19202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51776" y="2359152"/>
            <a:ext cx="13167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ROC-AUC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Dataset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eda_full.ipynb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From Raw Data → ML Sample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56032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2,880,893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0756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Dallas 311 Dataset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depts · Sep 2020 – Mar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44368" y="17830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56032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50876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31,282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46120" y="20756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Compliance Dept Only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46120" y="2395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1 department for focus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24728" y="17830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56032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50876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~3,130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126480" y="20756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Sample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2395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stratified sample for models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29260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ML models only trained on ~3,130 records — NOT the full 2.88M dataset.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33832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Missing Value Findings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3767328"/>
            <a:ext cx="201168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767328"/>
            <a:ext cx="2011680" cy="457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8221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28600" y="4187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" y="44256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before modelling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767328"/>
            <a:ext cx="201168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41448" y="3767328"/>
            <a:ext cx="2011680" cy="45720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41448" y="38221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C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441448" y="4187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Due Date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41448" y="44256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further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54296" y="3767328"/>
            <a:ext cx="201168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4296" y="3767328"/>
            <a:ext cx="201168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54296" y="38221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654296" y="4187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Date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54296" y="44256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Open/in-progress only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67144" y="3767328"/>
            <a:ext cx="201168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67144" y="3767328"/>
            <a:ext cx="201168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67144" y="38221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67144" y="4187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67144" y="44256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available ✅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Response Time Distribution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Percentiles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65176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hrs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28600" y="15727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86537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days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5176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0972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 hrs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54680" y="15727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(Median)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186537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days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65176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972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163.1 hrs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80760" y="15727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186537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 days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423160"/>
            <a:ext cx="265176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5146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476.4 hrs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28600" y="29900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" y="328269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 days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2423160"/>
            <a:ext cx="265176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5146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1,012 hrs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154680" y="29900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54680" y="328269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42.2 days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2423160"/>
            <a:ext cx="265176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5146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4,252 hrs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80760" y="29900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0760" y="328269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 days!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950208"/>
            <a:ext cx="85953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005072"/>
            <a:ext cx="8595360" cy="804672"/>
          </a:xfrm>
          <a:prstGeom prst="rect">
            <a:avLst/>
          </a:prstGeom>
          <a:solidFill>
            <a:srgbClr val="F0FDFB"/>
          </a:solidFill>
          <a:ln w="12700">
            <a:solidFill>
              <a:srgbClr val="A7F3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59936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72-hour threshold covers the p50–p75 range — most "fast" requests cluster in the first 2 days. The p99 of 4,252 hrs (~177 days) shows extreme outliers that heavily skew the mean, making prediction harder.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Priority &amp; Submission Method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by Priority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325880"/>
          <a:ext cx="41148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0" y="1005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Resolution by Submission Method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572000" y="1325880"/>
          <a:ext cx="42976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464515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Interesting: 'Emergency' priority has higher median (73h) than 'Standard' (71h) — suggests priority labels may not reflect actual urgency.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Class Imbalance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96012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960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Fast: Sample vs Full Dataset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0" y="1307592"/>
            <a:ext cx="100584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307592"/>
            <a:ext cx="109728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0" y="1307592"/>
            <a:ext cx="12344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13350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37960" y="13350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Sample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680960" y="133502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0" y="1691640"/>
            <a:ext cx="3429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13832" y="180136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17830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35240" y="17830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39.9%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0" y="2386584"/>
            <a:ext cx="342900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13832" y="249631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24780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35240" y="247802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52.2%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0" y="3081528"/>
            <a:ext cx="342900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13832" y="319125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92240" y="317296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35240" y="31729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59.4%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0" y="3776472"/>
            <a:ext cx="342900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13832" y="38862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hrs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92240" y="38679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35240" y="386791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64.8%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274320" y="4507992"/>
            <a:ext cx="8595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10% sample has more class imbalance than the full dataset — because the sample only covers Code Compliance department requests.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People Calling About?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 Types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"Code Concern" is the #1 request type — accounting for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0" y="9601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92.7%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995160" y="1170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31,485 records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965960"/>
          <a:ext cx="56692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6126480" y="1965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2377440"/>
            <a:ext cx="274320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2377440"/>
            <a:ext cx="54864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36208" y="2432304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24 Total Types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36208" y="2743200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filtered to District 10 only — much narrower than full Dallas 311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26480" y="3383280"/>
            <a:ext cx="274320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6480" y="3383280"/>
            <a:ext cx="54864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36208" y="3438144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Code Concern Dominates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36208" y="3749040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29,204 out of 31,485 records — 92.7% of all requests in this dataset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26480" y="4389120"/>
            <a:ext cx="274320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26480" y="4389120"/>
            <a:ext cx="54864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36208" y="4443984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Consumer &amp; Food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36208" y="4754880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Protection and Restaurant complaints are the next biggest categories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74320" y="50749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 numbers from your eda_full notebook — District 10 data only (31,485 records)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Threshold Comparison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54880" y="10058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at stricter thresholds is misleading — ROC-AUC is the more honest measure of model quality.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24 Hours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2024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2024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192024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Requests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3136" y="1005840"/>
            <a:ext cx="192024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03136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Recall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5953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78608"/>
            <a:ext cx="8595360" cy="1417320"/>
          </a:xfrm>
          <a:prstGeom prst="rect">
            <a:avLst/>
          </a:prstGeom>
          <a:solidFill>
            <a:srgbClr val="F0FDFB"/>
          </a:solidFill>
          <a:ln w="12700">
            <a:solidFill>
              <a:srgbClr val="A7F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999232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only 16% of requests are "fast" at the 24-hour threshold, the model learns to almost always predict "slow" and still scores 82% accuracy. This is the class imbalance problem. The ROC-AUC of 0.71, however, shows the model genuinely distinguishes fast from slow better than random guessing (0.5).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48 Hours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ROC-AUC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2024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2024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192024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Requests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3136" y="1005840"/>
            <a:ext cx="192024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03136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Recall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59536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78608"/>
            <a:ext cx="8595360" cy="1417320"/>
          </a:xfrm>
          <a:prstGeom prst="rect">
            <a:avLst/>
          </a:prstGeom>
          <a:solidFill>
            <a:srgbClr val="F0FDFB"/>
          </a:solidFill>
          <a:ln w="12700">
            <a:solidFill>
              <a:srgbClr val="A7F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999232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48 hours, the data is slightly more balanced (24% fast) but the model performs worst in ROC-AUC (0.64). Requests near 48 hours look very similar in features regardless of which side they fall on — the model gets confused, leading to weaker discrimination.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72 Hours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Target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2024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2024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192024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Requests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3136" y="1005840"/>
            <a:ext cx="192024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03136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Recall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59536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78608"/>
            <a:ext cx="8595360" cy="1417320"/>
          </a:xfrm>
          <a:prstGeom prst="rect">
            <a:avLst/>
          </a:prstGeom>
          <a:solidFill>
            <a:srgbClr val="F0FDFB"/>
          </a:solidFill>
          <a:ln w="12700">
            <a:solidFill>
              <a:srgbClr val="A7F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999232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hours was the original business target. The model achieves slightly better ROC-AUC (0.66) than 48hrs, and recall improves to 29%. With 30% of requests labeled "fast", the model has more examples to learn from. This is a practical threshold that balances detectability with real business impact.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4A6B"/>
          </a:solidFill>
          <a:ln w="12700">
            <a:solidFill>
              <a:srgbClr val="1A4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96 Hours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20240" cy="1280160"/>
          </a:xfrm>
          <a:prstGeom prst="rect">
            <a:avLst/>
          </a:prstGeom>
          <a:solidFill>
            <a:srgbClr val="1A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67.7%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20240" cy="1280160"/>
          </a:xfrm>
          <a:prstGeom prst="rect">
            <a:avLst/>
          </a:prstGeom>
          <a:solidFill>
            <a:srgbClr val="1A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192024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Requests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3136" y="1005840"/>
            <a:ext cx="192024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03136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Recall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595360" cy="64008"/>
          </a:xfrm>
          <a:prstGeom prst="rect">
            <a:avLst/>
          </a:prstGeom>
          <a:solidFill>
            <a:srgbClr val="1A4A6B"/>
          </a:solidFill>
          <a:ln w="12700">
            <a:solidFill>
              <a:srgbClr val="1A4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78608"/>
            <a:ext cx="8595360" cy="1417320"/>
          </a:xfrm>
          <a:prstGeom prst="rect">
            <a:avLst/>
          </a:prstGeom>
          <a:solidFill>
            <a:srgbClr val="F0FDFB"/>
          </a:solidFill>
          <a:ln w="12700">
            <a:solidFill>
              <a:srgbClr val="A7F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999232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96 hours, recall for fast requests peaks at 38% — the highest of all thresholds. However, accuracy drops to its lowest (67.7%) because the boundary becomes fuzzy. A request resolved at 90 hours vs 100 hours looks almost identical to the model.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Output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01168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69.8%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but misleading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960120"/>
            <a:ext cx="201168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41448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41448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of 3 models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54296" y="960120"/>
            <a:ext cx="201168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54296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(Fast)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54296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of 'fast' preds correct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67144" y="960120"/>
            <a:ext cx="201168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67144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(Fast)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67144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5% of fast caught ⚠️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331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(72-hr threshold)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2743200"/>
            <a:ext cx="192024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7889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74320" y="3246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SLOW ✅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2743200"/>
            <a:ext cx="1920240" cy="1005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27889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377440" y="3246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SLOW 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886200"/>
            <a:ext cx="1920240" cy="1005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319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274320" y="4389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FAST 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77440" y="3886200"/>
            <a:ext cx="1920240" cy="100584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39319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2377440" y="4389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FAST ✅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Logistic Regression Struggles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63440" y="27249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caught 10 out of 188 fast requests (recall = 5%)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0" y="3108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'slow' almost every time — safe but useless for fast detection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34930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negatives (178): misses most fast-resolved requests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38770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decision boundary struggles with complex, high-dimensional 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63440" y="42611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use: as a simple baseline to compare against RF &amp; XGBoost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(72-hr Threshold)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Tested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05840"/>
            <a:ext cx="31089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005840"/>
            <a:ext cx="64008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0607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97880" y="13990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69.8%   AUC: 0.584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09560" y="133502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AUC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103120"/>
            <a:ext cx="31089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0" y="2103120"/>
            <a:ext cx="64008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215798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7880" y="2496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65.3%   AUC: 0.631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09560" y="243230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200400"/>
            <a:ext cx="310896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3200400"/>
            <a:ext cx="6400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3255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⭐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97880" y="3593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69.0%   AUC: 0.657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909560" y="352958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4320" y="4343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on ROC-AUC — it is the best at distinguishing fast vs slow requests across all thresholds.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XGBoost @ 72 hrs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SLOW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FAST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1188720"/>
            <a:ext cx="868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2834640"/>
            <a:ext cx="868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1188720"/>
            <a:ext cx="3474720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2801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199339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SLOW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SLOW 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 (TN)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474720" cy="14630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2801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199339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SLOW 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(FP)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3474720" cy="14630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260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4400" y="363931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SLOW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FAST 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(FN)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3474720" cy="146304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9260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754880" y="363931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FAST 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(TP)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40740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correctly identifies slow requests (TN=378) but misses 134 fast requests (FN). Only 54 fast requests correctly detected (TP). This confirms the class imbalance problem.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Comparison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2514600"/>
        </p:xfrm>
        <a:graphic>
          <a:graphicData uri="http://schemas.openxmlformats.org/drawingml/2006/table">
            <a:tbl>
              <a:tblPr/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82.4% 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 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hrs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4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 ⚠️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4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hrs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 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0690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= Best value in that column   ⚠️ = Weakest value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Improvement Attempt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Baseline R² (No Removal)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9601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629400" y="1143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weak — response time is hard to predict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8745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Strategies Tested to Improve This: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2651760" cy="25146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331720"/>
            <a:ext cx="26517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441448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4505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Outlier Removal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2907792"/>
            <a:ext cx="243230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7 cut-off strategies (No removal, Cap 720h, IQR×1.5, IQR×3.0, Remove &gt;90th, &gt;95th, &gt;99th pct). Best: Cap at 720h with R²=0.097.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2331720"/>
            <a:ext cx="2651760" cy="25146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2331720"/>
            <a:ext cx="265176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4408" y="2441448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24505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XGBoost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64408" y="2907792"/>
            <a:ext cx="243230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model. Real R²=0.0414, RMSE=173h. Stronger than Random Forest but still low due to extreme data variability.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331720"/>
            <a:ext cx="2651760" cy="25146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33172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4768" y="244144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24505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Neural Network (MLP)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44768" y="2907792"/>
            <a:ext cx="243230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MLPRegressor. Real R²=0.0312, RMSE=174h. Response time variability makes accurate prediction genuinely difficult.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91947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C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R² stayed low (0.05–0.10) — extreme variability in response time makes regression very challenging.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 + Model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Strategy Impact on R²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371600"/>
          <a:ext cx="49377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005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Best: Cap at 720h (30 days) — R²=0.097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9496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(Best Strategy: Cap 720h)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94960" y="1371600"/>
            <a:ext cx="3474720" cy="566928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94960" y="1371600"/>
            <a:ext cx="54864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14264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0" y="141732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0.0107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0" y="167335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125h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94960" y="2029968"/>
            <a:ext cx="3474720" cy="566928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94960" y="2029968"/>
            <a:ext cx="54864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0" y="2084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15200" y="207568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0.0362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0" y="233172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125h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394960" y="2688336"/>
            <a:ext cx="3474720" cy="566928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94960" y="2688336"/>
            <a:ext cx="54864" cy="5669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315200" y="273405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0.0339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15200" y="299008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173h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94960" y="3346704"/>
            <a:ext cx="347472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394960" y="3346704"/>
            <a:ext cx="54864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0" y="3401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⭐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315200" y="339242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0.0414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315200" y="364845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173h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394960" y="4005072"/>
            <a:ext cx="3474720" cy="566928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94960" y="4005072"/>
            <a:ext cx="54864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0" y="40599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(sklearn)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315200" y="405079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0.0312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315200" y="4306824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174h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74320" y="4389120"/>
            <a:ext cx="8595360" cy="54864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74320" y="4443984"/>
            <a:ext cx="8595360" cy="685800"/>
          </a:xfrm>
          <a:prstGeom prst="rect">
            <a:avLst/>
          </a:prstGeom>
          <a:solidFill>
            <a:srgbClr val="FFF8F0"/>
          </a:solidFill>
          <a:ln w="12700">
            <a:solidFill>
              <a:srgbClr val="FFCBA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44805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XGBoost performed best (R²=0.0414) using Cap at 720h strategy. Low R² across all models confirms response time is genuinely hard to predict — extreme outliers are the core challenge.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 311 Intelligence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ML workflow — replaces traditional static Jupyter Notebook approach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9875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1325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22860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1463040" cy="2926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" y="196596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" y="2450592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DataPrepAgent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2999232"/>
            <a:ext cx="131673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raw data, drops empty columns, standardizes dates, calculates days_to_close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56432" y="22860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993392" y="1874520"/>
            <a:ext cx="1463040" cy="2926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19659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66544" y="2450592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TransformationAgent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66544" y="2999232"/>
            <a:ext cx="131673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class imbalance, applies SMOTE or down-sampling to balance minority classes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75504" y="22860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12464" y="1874520"/>
            <a:ext cx="1463040" cy="2926080"/>
          </a:xfrm>
          <a:prstGeom prst="rect">
            <a:avLst/>
          </a:prstGeom>
          <a:solidFill>
            <a:srgbClr val="0D2137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33672" y="1965960"/>
            <a:ext cx="411480" cy="41148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33672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85616" y="2450592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DiagnosticsAgent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85616" y="2999232"/>
            <a:ext cx="131673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analysis for multicollinearity. Triggers feedback loop if VIF &gt; 10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94576" y="22860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31536" y="1874520"/>
            <a:ext cx="1463040" cy="2926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52744" y="196596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52744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04688" y="2450592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ModelSelectionAgent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04688" y="2999232"/>
            <a:ext cx="131673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LR, RF, XGBoost. Evaluates ROC-AUC, saves best model artifacts to disk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50608" y="1874520"/>
            <a:ext cx="1463040" cy="2926080"/>
          </a:xfrm>
          <a:prstGeom prst="rect">
            <a:avLst/>
          </a:prstGeom>
          <a:solidFill>
            <a:srgbClr val="0D213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71816" y="1965960"/>
            <a:ext cx="411480" cy="41148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71816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23760" y="2450592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RegularizationAgent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23760" y="2999232"/>
            <a:ext cx="131673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Ridge, LASSO, ElasticNet. Extracts penalized coefficients for interpretability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4320" y="49194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inherits from BaseAgent, passes data forward, with built-in garbage collection for memory optimization.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Enrichment, Graph Reasoning &amp; Inference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2 &amp;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Knowledge Graph Enrichment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11480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44752"/>
            <a:ext cx="54864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996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ExplorerAgent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web for systemic bottlenecks (e.g. 'Why are Dallas Animal Services delayed?')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496312"/>
            <a:ext cx="411480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496312"/>
            <a:ext cx="54864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511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ArchivistAgent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88036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findings into Neo4j Knowledge Graph. Links Service Types, Depts &amp; Bottlenecks using Gemini 1.5 embeddings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411480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547872"/>
            <a:ext cx="54864" cy="914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027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ReinforcementJudge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9319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against Neo4j. Forces LLM (Groq/Llama 3) to vet assumptions. Outputs Confidence/Trust Score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10058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Multi-Threshold Inference Engine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444752"/>
            <a:ext cx="420624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444752"/>
            <a:ext cx="54864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4996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Stage A: Acoustic Extraction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18288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record 311 calls via microphone. Groq Whisper API transcribes audio → JSON payload for ML model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496312"/>
            <a:ext cx="420624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496312"/>
            <a:ext cx="54864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5511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Stage B: 12-Model Ensemble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28803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models (XGBoost, RF, LR × 4 thresholds) run simultaneously. Output: ensemble probability for each time block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547872"/>
            <a:ext cx="420624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547872"/>
            <a:ext cx="54864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6027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Stage C: Citizen Clarity AI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39319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analyzes multi-threshold probabilities, cross-references Neo4j graph, generates human-readable expert analysis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736592"/>
            <a:ext cx="85953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791456"/>
            <a:ext cx="8595360" cy="457200"/>
          </a:xfrm>
          <a:prstGeom prst="rect">
            <a:avLst/>
          </a:prstGeom>
          <a:solidFill>
            <a:srgbClr val="F0FDFB"/>
          </a:solidFill>
          <a:ln w="12700">
            <a:solidFill>
              <a:srgbClr val="A7F3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2803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full pipeline: Agentic Training → Knowledge Graph Enrichment → 12-Model Inference → LLM Explainability → Live Demo at three11chat.onrender.com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Folder Structure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0" y="228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Roshan's Codebase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418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agents/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9601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148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54864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90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data/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5087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processed, reports, knowledge_graph.json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41148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11680"/>
            <a:ext cx="54864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39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inference/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0574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explainability_chain.py · llm_factory.py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41148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560320"/>
            <a:ext cx="54864" cy="47548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877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src/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6060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pipeline: loader → cleaning → engineering → preprocessing → models → evaluation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41148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08960"/>
            <a:ext cx="54864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36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ui/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31546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flask_app.py · dashboard.html · streamlit app.py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1148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57600"/>
            <a:ext cx="54864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850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tests/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0" y="37033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unit tests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206240"/>
            <a:ext cx="41148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206240"/>
            <a:ext cx="54864" cy="47548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233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📜 .env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28800" y="42519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credentials &amp; configurations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1280160"/>
            <a:ext cx="420624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2984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pipeline.py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150876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Main Orchestrator — runs all 6 steps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1783080"/>
            <a:ext cx="420624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8013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201168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RF + XGBoost training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2286000"/>
            <a:ext cx="420624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3042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explainability_chain.py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251460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LangChain RAG + Knowledge Graph insights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788920"/>
            <a:ext cx="420624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8072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llm_factory.py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0" y="301752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Groq / OpenAI / Gemini config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291840"/>
            <a:ext cx="420624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3101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flask_app.py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54880" y="352044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Backend API for dashboard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3794760"/>
            <a:ext cx="420624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8130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knowledge_graph.json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54880" y="402336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Graph metadata for RAG reasoning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4297680"/>
            <a:ext cx="420624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3159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base_agent.py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54880" y="452628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Base class for all 5 agents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09728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 &amp; Clean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9933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data_cleaning.py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816352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737360" y="1097280"/>
            <a:ext cx="109728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1097280"/>
            <a:ext cx="109728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1188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15727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Eng.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83080" y="19933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feature_engineering.py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79392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00400" y="1097280"/>
            <a:ext cx="109728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097280"/>
            <a:ext cx="109728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188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46120" y="15727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Preprocess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46120" y="19933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preprocessing.py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742432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663440" y="1097280"/>
            <a:ext cx="109728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097280"/>
            <a:ext cx="10972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188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09160" y="15727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Train Models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19933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205472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126480" y="1097280"/>
            <a:ext cx="109728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1097280"/>
            <a:ext cx="1097280" cy="5486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188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72200" y="15727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19933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evaluation.py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589520" y="1097280"/>
            <a:ext cx="109728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1097280"/>
            <a:ext cx="10972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11887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635240" y="15727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Dashboard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635240" y="19933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flask_app.py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2743200"/>
            <a:ext cx="8595360" cy="320040"/>
          </a:xfrm>
          <a:prstGeom prst="rect">
            <a:avLst/>
          </a:prstGeom>
          <a:solidFill>
            <a:srgbClr val="1E1E2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27614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 Reasoning Layer (inference/)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74320" y="3154680"/>
            <a:ext cx="2011680" cy="16002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3154680"/>
            <a:ext cx="20116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246120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Knowledge Graph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47472" y="361188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knowledge_graph.json stores graph metadata for context-aware reasoning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50592" y="3154680"/>
            <a:ext cx="2011680" cy="16002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50592" y="3154680"/>
            <a:ext cx="201168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23744" y="3246120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LangChain RAG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523744" y="361188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explainability_chain.py retrieves graph context to explain model predictions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26864" y="3154680"/>
            <a:ext cx="2011680" cy="16002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26864" y="3154680"/>
            <a:ext cx="2011680" cy="5486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0016" y="3246120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LLM Factory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700016" y="361188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Groq / OpenAI / Gemini to generate human-readable AI insights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03136" y="3154680"/>
            <a:ext cx="2011680" cy="16002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03136" y="3154680"/>
            <a:ext cx="201168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76288" y="3246120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Dashboard Output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876288" y="361188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flask_app.py + dashboard.html render metrics + AI insights to citizens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74320" y="4864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 orchestrates all 6 steps. The AI layer runs in parallel to explain WHY the model predicted a delay — not just what it predicted.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1005840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25880"/>
            <a:ext cx="2651760" cy="28346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Threshold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468880"/>
            <a:ext cx="24323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threshold yields the best ROC-AUC (0.71), making it the most reliable predictor despite misleading accuracy.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51760" cy="28346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2588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2468880"/>
            <a:ext cx="24323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is the main challenge. Too few fast requests means the model biases toward predicting slow in all scenarios.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51760" cy="28346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32588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2468880"/>
            <a:ext cx="24323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oversampling, tune class weights, and explore ensemble models with rebalanced training data.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434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Our 311 Chat Agent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our team — chat with an AI agent trained on the Dallas 311 dataset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103120"/>
            <a:ext cx="457200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>
            <a:hlinkClick r:id="rId3"/>
          </p:cNvPr>
          <p:cNvSpPr/>
          <p:nvPr/>
        </p:nvSpPr>
        <p:spPr>
          <a:xfrm>
            <a:off x="2286000" y="21031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three11chat.onrender.com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3520440"/>
            <a:ext cx="256032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520440"/>
            <a:ext cx="25603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393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Ask questions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050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naturally about 311 service requests, response times, and city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3520440"/>
            <a:ext cx="256032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3520440"/>
            <a:ext cx="25603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6393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Get insights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40050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answers based on real Dallas 311 data — same dataset as this project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3520440"/>
            <a:ext cx="256032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3520440"/>
            <a:ext cx="25603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6393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AI-powered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40050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LLM technology to understand and respond to your queries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983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above to try it live during the presentation!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311 Service Request Analysis</dc:title>
  <dc:subject>PptxGenJS Presentation</dc:subject>
  <dc:creator>PptxGenJS</dc:creator>
  <cp:lastModifiedBy>PptxGenJS</cp:lastModifiedBy>
  <cp:revision>29</cp:revision>
  <dcterms:created xsi:type="dcterms:W3CDTF">2026-04-29T05:51:39Z</dcterms:created>
  <dcterms:modified xsi:type="dcterms:W3CDTF">2026-04-29T07:47:46Z</dcterms:modified>
</cp:coreProperties>
</file>